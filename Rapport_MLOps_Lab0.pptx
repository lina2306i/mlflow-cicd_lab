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640080"/>
            <a:ext cx="3200400" cy="3200400"/>
          </a:xfrm>
          <a:prstGeom prst="ellipse">
            <a:avLst/>
          </a:prstGeom>
          <a:solidFill>
            <a:srgbClr val="1565C0">
              <a:alpha val="25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2011680" cy="2011680"/>
          </a:xfrm>
          <a:prstGeom prst="ellipse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720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1E88E5">
              <a:alpha val="8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</a:rPr>
              <a:t>RAPPORT DE LABORATOIRE  •  MLOPS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 Sentiment API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MLOps Complète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50292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MLflow • MinIO • PostgreSQL • DVC • Discord Notifications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3840480" cy="868680"/>
          </a:xfrm>
          <a:prstGeom prst="rect">
            <a:avLst/>
          </a:prstGeom>
          <a:solidFill>
            <a:srgbClr val="1A2332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Ing. LABIADH LINA</a:t>
            </a:r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  —  iTeam Univ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Cours MLOps  •  Mai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434340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1E88E5">
              <a:alpha val="85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43434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434340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00ACC1">
              <a:alpha val="85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3434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434340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FF6D00">
              <a:alpha val="8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3434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434340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3434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DVC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Sommaire du Rapport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02920" cy="8046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607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Contexte &amp; Objectifs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MLOps, cycle de vie ML, enjeux du projet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114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93392"/>
            <a:ext cx="502920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9339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4825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Architecture &amp; Infrastructure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Docker Compose, 4 services, réseau interne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4114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80944"/>
            <a:ext cx="502920" cy="80467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98094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0358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Versioning des Données (DVC)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64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dvc init, remote MinIO, push/pull dataset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68496"/>
            <a:ext cx="4114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68496"/>
            <a:ext cx="502920" cy="80467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96849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Expérimentation MLflow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35254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Autolog, tracking, artifacts dans MinIO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502920" cy="8046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05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0607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Notifications Discord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3898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Webhook, embeds, niveaux info/success/error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93392"/>
            <a:ext cx="4114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93392"/>
            <a:ext cx="502920" cy="80467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99339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204825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Résultats &amp; Démonstration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3774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Screenshots, métriques, runs MLflow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80944"/>
            <a:ext cx="4114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80944"/>
            <a:ext cx="502920" cy="804672"/>
          </a:xfrm>
          <a:prstGeom prst="rect">
            <a:avLst/>
          </a:prstGeom>
          <a:solidFill>
            <a:srgbClr val="D5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98094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0358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Conclusion &amp; Perspectives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364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CI/CD GitLab, monitoring, améliorations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•  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Qu'est-ce que le MLOps 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Le MLOps (Machine Learning Operations) combine DevOps et Machine Learning pour automatiser, fiabiliser et industrialiser le cycle de vie complet des modèles IA — de l'expérimentation locale jusqu'au déploiement en production.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74320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03120"/>
            <a:ext cx="274320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Objectif Principal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Mettre en place une infrastructure MLOps complète et fonctionnelle avec Docker, MLflow, MinIO et PostgreSQL.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2103120"/>
            <a:ext cx="274320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2103120"/>
            <a:ext cx="2743200" cy="4114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🔁  Reproductibilité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63347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Versionner les données avec DVC et les modèles avec MLflow pour garantir la reproductibilité de chaque expérience.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2103120"/>
            <a:ext cx="274320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2103120"/>
            <a:ext cx="2743200" cy="4114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 Monitoring Temps Réel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45936" y="263347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Intégrer des notifications Discord automatiques pour suivre l'entraînement, les métriques et les erreurs.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•  Architecture &amp; Infrastructure Docker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3886200"/>
          </a:xfrm>
          <a:prstGeom prst="roundRect">
            <a:avLst>
              <a:gd name="adj" fmla="val 3529"/>
            </a:avLst>
          </a:prstGeom>
          <a:solidFill>
            <a:srgbClr val="0A1628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🐳  mlops_net  (réseau Docker interne)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920240" cy="3063240"/>
          </a:xfrm>
          <a:prstGeom prst="rect">
            <a:avLst/>
          </a:prstGeom>
          <a:solidFill>
            <a:srgbClr val="1A2332"/>
          </a:solidFill>
          <a:ln w="19050">
            <a:solidFill>
              <a:srgbClr val="3367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1920240" cy="50292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PostgreSQL 14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39572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336791">
              <a:alpha val="70000"/>
            </a:srgbClr>
          </a:solidFill>
          <a:ln w="6350">
            <a:solidFill>
              <a:srgbClr val="3367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:5432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Backend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MLflow metadata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97480" y="1417320"/>
            <a:ext cx="1920240" cy="3063240"/>
          </a:xfrm>
          <a:prstGeom prst="rect">
            <a:avLst/>
          </a:prstGeom>
          <a:solidFill>
            <a:srgbClr val="1A2332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1417320"/>
            <a:ext cx="1920240" cy="50292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🪣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88920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MinIO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0" y="239572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F6D00">
              <a:alpha val="70000"/>
            </a:srgbClr>
          </a:solidFill>
          <a:ln w="635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:9000/9001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8892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Artifact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S3-compatible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1920240" cy="3063240"/>
          </a:xfrm>
          <a:prstGeom prst="rect">
            <a:avLst/>
          </a:prstGeom>
          <a:solidFill>
            <a:srgbClr val="1A2332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1417320"/>
            <a:ext cx="1920240" cy="502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83480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MLflow Server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239572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0ACC1">
              <a:alpha val="70000"/>
            </a:srgbClr>
          </a:solidFill>
          <a:ln w="635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:5000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Tracking server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Experiments UI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926080"/>
            <a:ext cx="2286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040880" y="1417320"/>
            <a:ext cx="1920240" cy="3063240"/>
          </a:xfrm>
          <a:prstGeom prst="rect">
            <a:avLst/>
          </a:prstGeom>
          <a:solidFill>
            <a:srgbClr val="1A2332"/>
          </a:solidFill>
          <a:ln w="19050">
            <a:solidFill>
              <a:srgbClr val="F37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0" y="1417320"/>
            <a:ext cx="1920240" cy="502920"/>
          </a:xfrm>
          <a:prstGeom prst="rect">
            <a:avLst/>
          </a:prstGeom>
          <a:solidFill>
            <a:srgbClr val="F37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Jupyter Lab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269480" y="239572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37626">
              <a:alpha val="70000"/>
            </a:srgbClr>
          </a:solidFill>
          <a:ln w="6350">
            <a:solidFill>
              <a:srgbClr val="F37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:8888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Data science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environment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2926080"/>
            <a:ext cx="2286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2468880" y="2971800"/>
            <a:ext cx="2286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63440" y="2971800"/>
            <a:ext cx="2286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38912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depends_on 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9224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depends_on →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•  Dockerfiles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114800" cy="384048"/>
          </a:xfrm>
          <a:prstGeom prst="rect">
            <a:avLst/>
          </a:prstGeom>
          <a:solidFill>
            <a:srgbClr val="F3762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📓  Dockerfile.jupyter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jupyter/datascience-notebook:latest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/tmp/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/tmp/requirements.txt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41148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📦  requirements.txt inclus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mlflow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172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jupyterlab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scikit-learn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630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pandas / numpy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boto3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087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psycopg2-binary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315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requests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11480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Dockerfile.mlflow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463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python:3.9-slim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764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 &amp;&amp; \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0665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apt-get install -y libpq-dev gcc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23682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mlflow boto3 \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670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psycopg2-binary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2971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mlflow server \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2735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--backend-store-uri postgresql://\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5753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root:root@postgres:5432/mlflow \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8770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--default-artifact-root s3://mlflow \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41788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--host 0.0.0.0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•  Versioning des Données avec DVC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0"/>
            <a:ext cx="3657600" cy="1280160"/>
          </a:xfrm>
          <a:prstGeom prst="rect">
            <a:avLst/>
          </a:prstGeom>
          <a:solidFill>
            <a:srgbClr val="7B1FA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Pourquoi DVC 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Git ne gère pas les gros fichiers de données.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DVC versionne les datasets et les stocke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dans un remote S3/MinIO.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914400"/>
            <a:ext cx="466344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1FA2"/>
                </a:solidFill>
              </a:rPr>
              <a:t>.dvc/config — Remote MinIO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129844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[core]  remote = myremote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0" y="155448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['remote "myremote"']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0" y="181051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= s3://mlflow/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206654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endpointurl = http://127.0.0.1:9010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0" y="232257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access_key_id = root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257860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secret_access_key = root123456789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114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77440"/>
            <a:ext cx="384048" cy="7772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774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4323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-3.14 -m dvc init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27614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Initialise DVC dans le repo Git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73552"/>
            <a:ext cx="4114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73552"/>
            <a:ext cx="384048" cy="7772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273552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3284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dvc remote add -d myremote s3://mlflow/dvcstore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" y="3657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Définit MinIO comme remote par défaut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169664"/>
            <a:ext cx="4114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69664"/>
            <a:ext cx="384048" cy="7772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169664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2245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dvc remote modify myremote endpointurl ...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7240" y="45537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Configure l'URL du endpoint MinIO local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377440"/>
            <a:ext cx="4114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377440"/>
            <a:ext cx="384048" cy="7772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3774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24323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dvc add data/dataset.csv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12080" y="27614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Crée dataset.csv.dvc et ignore le CSV dans Git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273552"/>
            <a:ext cx="4114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273552"/>
            <a:ext cx="384048" cy="7772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273552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12080" y="33284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data/dataset.csv.dvc .gitignore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12080" y="3657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Versionne le pointeur DVC dans Git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169664"/>
            <a:ext cx="4114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4169664"/>
            <a:ext cx="384048" cy="7772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169664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42245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dvc push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12080" y="45537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Envoie le dataset vers MinIO (dossier dvcstore)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•  Expérimentation MLflow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0"/>
            <a:ext cx="4846320" cy="3931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846320" cy="384048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01_experimentation.ipynb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Connexion MLflow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mlflow.set_tracking_uri('http://mlflow:5000')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mlflow.set_experiment('Classification_Cancer')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048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mlflow.sklearn.autolog()  # ← log automatique !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Entraînement dans un Run context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7066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mlflow.start_run() as run: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clf = RandomForestClassifier(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n_estimators=100, max_depth=5)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364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clf.fit(X_train, y_train)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584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preds = clf.predict(X_test)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8039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 = accuracy_score(y_test, preds)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428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Notification Discord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462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notify_discord(message, metrics={'Accuracy': acc},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level='success', task_name='Training')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9496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Ce que MLflow capture automatiquement 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49240" y="1371600"/>
            <a:ext cx="34290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9240" y="1371600"/>
            <a:ext cx="475488" cy="56692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3716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79592" y="14081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Hyperparamètres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9592" y="1664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n_estimators, max_depth, max_features…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49240" y="2048256"/>
            <a:ext cx="34290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49240" y="2048256"/>
            <a:ext cx="475488" cy="56692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20482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79592" y="20848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Métriques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79592" y="23408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accuracy, precision, recall, F1, AUC…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49240" y="2724912"/>
            <a:ext cx="34290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49240" y="2724912"/>
            <a:ext cx="475488" cy="566928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272491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79592" y="27614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Artefacts/Modèle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79592" y="3017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.pkl sauvegardé dans MinIO via S3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49240" y="3401568"/>
            <a:ext cx="34290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49240" y="3401568"/>
            <a:ext cx="475488" cy="56692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0" name="Text 38"/>
          <p:cNvSpPr/>
          <p:nvPr/>
        </p:nvSpPr>
        <p:spPr>
          <a:xfrm>
            <a:off x="5349240" y="34015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79592" y="34381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Dataset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79592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Référence train/test loggée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49240" y="4078224"/>
            <a:ext cx="34290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49240" y="4078224"/>
            <a:ext cx="475488" cy="56692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5" name="Text 43"/>
          <p:cNvSpPr/>
          <p:nvPr/>
        </p:nvSpPr>
        <p:spPr>
          <a:xfrm>
            <a:off x="5349240" y="407822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879592" y="4114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Run ID unique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79592" y="43708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Hash pour recharger le modèle exact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•  Notifications Discord Automatiques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0"/>
            <a:ext cx="4846320" cy="3931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846320" cy="38404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🔔  discord_notify.py  — src/utils/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WEBHOOK_URL = os.getenv('DISCORD_WEBHOOK_URL')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notify_discord(message, run_id='N/A',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metrics=None, level='success',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task_name='Training'):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colors = {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'info':3447003,   # Bleu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'success':3066993, # Vert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364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'error':15158332   # Rouge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584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039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 = { 'username':'Bot-Notifier-MLOps',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'embeds':[{ 'title':..., 'fields':[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428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Environnement, Auteur, Run ID,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462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Métriques, MLflow UI link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]}]}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requests.post(WEBHOOK_URL, json=payload)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9496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 niveaux de notification 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1371600"/>
            <a:ext cx="3429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586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49240" y="1371600"/>
            <a:ext cx="566928" cy="100584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137160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ℹ️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8932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65F2"/>
                </a:solidFill>
              </a:rPr>
              <a:t>INFO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89320" y="17922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Début de session Jupyter,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début d'entraînement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2542032"/>
            <a:ext cx="3429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49240" y="2542032"/>
            <a:ext cx="566928" cy="10058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542032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989320" y="2615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</a:rPr>
              <a:t>SUCCESS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89320" y="29626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Entraînement terminé,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modèle sauvegardé dans MinIO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3712464"/>
            <a:ext cx="3429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5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49240" y="3712464"/>
            <a:ext cx="566928" cy="1005840"/>
          </a:xfrm>
          <a:prstGeom prst="rect">
            <a:avLst/>
          </a:prstGeom>
          <a:solidFill>
            <a:srgbClr val="D5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3712464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989320" y="3785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0000"/>
                </a:solidFill>
              </a:rPr>
              <a:t>ERROR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89320" y="4133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Exception lors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l'entraînement (traceback)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4663440"/>
            <a:ext cx="342900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4663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D00"/>
                </a:solidFill>
              </a:rPr>
              <a:t>⚠️  Webhook stocké dans variable d'env. DISCORD_WEBHOOK_URL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•  Résultats &amp; Démonstration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965960" cy="3200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Runs MLflow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Classification_Cancer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96312" y="960120"/>
            <a:ext cx="1965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960120"/>
            <a:ext cx="1965960" cy="3200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960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Meilleure Accuracy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96312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</a:rPr>
              <a:t>92.98%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96312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RandomForest n=100 d=5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72584" y="960120"/>
            <a:ext cx="1965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960120"/>
            <a:ext cx="1965960" cy="3200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960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Artefacts MinIO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72584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D00"/>
                </a:solidFill>
              </a:rPr>
              <a:t>4.7 MiB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72584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29 objets dans le bucket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48856" y="960120"/>
            <a:ext cx="1965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586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960120"/>
            <a:ext cx="1965960" cy="32004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22" name="Text 20"/>
          <p:cNvSpPr/>
          <p:nvPr/>
        </p:nvSpPr>
        <p:spPr>
          <a:xfrm>
            <a:off x="6848856" y="960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Notifs Discord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48856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65F2"/>
                </a:solidFill>
              </a:rPr>
              <a:t>3/3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48856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info + success + error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331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🧪  Runs enregistrés dans MLflow (Classification_Cancer)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97480"/>
          <a:ext cx="8503920" cy="201168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822960"/>
                <a:gridCol w="1645920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Run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Créé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Durée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vaunted-pig-402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min ago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8.1s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C853"/>
                          </a:solidFill>
                        </a:rPr>
                        <a:t>✅ Completed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bold-wolf-897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 min ago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C853"/>
                          </a:solidFill>
                        </a:rPr>
                        <a:t>✅ Completed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bright-asp-601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 min ago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C853"/>
                          </a:solidFill>
                        </a:rPr>
                        <a:t>✅ Completed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intelligent-crab-735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 min ago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13.4s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C853"/>
                          </a:solidFill>
                        </a:rPr>
                        <a:t>✅ Completed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•  Conclusion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5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2926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023360" cy="38404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Réalisations du 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Infrastructure Docker complète (4 services)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DVC configuré → dataset versionné dans MinIO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MLflow tracking avec autolog activé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4 runs enregistrés avec accuracy ~92%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Artefacts (.pkl) stockés dans MinIO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Bot Discord avec 3 niveaux de notification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55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Notebook Jupyter fully dockerisé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960120"/>
            <a:ext cx="4023360" cy="2926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Perspectives &amp; Améliorations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CI/CD GitLab — pipeline auto train + deploy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746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Monitoring Prometheus + Grafana (Data Drift)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048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Déploiement API FastAPI / Flask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350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Model Registry MLflow (alias @production)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Tests unitaires pytest automatisés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→  Lab 2 : NLP avec DistilBERT &amp; Transformers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0A1628"/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Stack Technologique Maîtrisée 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4165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Docker Compose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27048" y="44165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PostgreSQL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51176" y="44165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MinIO S3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75304" y="44165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MLflow 3.1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99432" y="44165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DVC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23560" y="44165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scikit-learn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647688" y="44165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Discord Webhooks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71816" y="44165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Python 3.11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MLOps - Lab0 Sentiment API</dc:title>
  <dc:subject>PptxGenJS Presentation</dc:subject>
  <dc:creator>LABIADH LINA</dc:creator>
  <cp:lastModifiedBy>LABIADH LINA</cp:lastModifiedBy>
  <cp:revision>1</cp:revision>
  <dcterms:created xsi:type="dcterms:W3CDTF">2026-05-11T20:55:53Z</dcterms:created>
  <dcterms:modified xsi:type="dcterms:W3CDTF">2026-05-11T20:55:53Z</dcterms:modified>
</cp:coreProperties>
</file>